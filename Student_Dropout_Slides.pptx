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esh srinivas" userId="7ec19e2243fa6193" providerId="LiveId" clId="{0982DEF9-6359-49DA-8B44-FC90A3CF2C07}"/>
    <pc:docChg chg="undo custSel modSld">
      <pc:chgData name="vishesh srinivas" userId="7ec19e2243fa6193" providerId="LiveId" clId="{0982DEF9-6359-49DA-8B44-FC90A3CF2C07}" dt="2026-07-10T11:34:31.536" v="68" actId="20577"/>
      <pc:docMkLst>
        <pc:docMk/>
      </pc:docMkLst>
      <pc:sldChg chg="modSp mod">
        <pc:chgData name="vishesh srinivas" userId="7ec19e2243fa6193" providerId="LiveId" clId="{0982DEF9-6359-49DA-8B44-FC90A3CF2C07}" dt="2026-07-10T11:34:31.536" v="68" actId="20577"/>
        <pc:sldMkLst>
          <pc:docMk/>
          <pc:sldMk cId="0" sldId="256"/>
        </pc:sldMkLst>
        <pc:spChg chg="mod">
          <ac:chgData name="vishesh srinivas" userId="7ec19e2243fa6193" providerId="LiveId" clId="{0982DEF9-6359-49DA-8B44-FC90A3CF2C07}" dt="2026-07-10T11:34:07.625" v="3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vishesh srinivas" userId="7ec19e2243fa6193" providerId="LiveId" clId="{0982DEF9-6359-49DA-8B44-FC90A3CF2C07}" dt="2026-07-10T11:34:22.362" v="54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vishesh srinivas" userId="7ec19e2243fa6193" providerId="LiveId" clId="{0982DEF9-6359-49DA-8B44-FC90A3CF2C07}" dt="2026-07-10T11:34:31.536" v="68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vishesh srinivas" userId="7ec19e2243fa6193" providerId="LiveId" clId="{0982DEF9-6359-49DA-8B44-FC90A3CF2C07}" dt="2026-07-10T11:33:57.016" v="30" actId="20577"/>
        <pc:sldMkLst>
          <pc:docMk/>
          <pc:sldMk cId="0" sldId="265"/>
        </pc:sldMkLst>
        <pc:spChg chg="mod">
          <ac:chgData name="vishesh srinivas" userId="7ec19e2243fa6193" providerId="LiveId" clId="{0982DEF9-6359-49DA-8B44-FC90A3CF2C07}" dt="2026-07-10T11:33:57.016" v="30" actId="20577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4F7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Hist GBoosting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0.75900000000000001</c:v>
                </c:pt>
                <c:pt idx="1">
                  <c:v>0.77100000000000002</c:v>
                </c:pt>
                <c:pt idx="2">
                  <c:v>0.78300000000000003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A-4251-85C1-B4F8E30D24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4F7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Hist GBoosting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0.69499999999999995</c:v>
                </c:pt>
                <c:pt idx="2">
                  <c:v>0.71199999999999997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6A-4251-85C1-B4F8E30D24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2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3A41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2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6CE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6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42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HIMSHIKHAR 2026  ·  AIML CAPSTONE  ·  SOLO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System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at-risk students before grades collapse — and turning every prediction into a clear, explainable 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2240280" cy="4572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r>
              <a:rPr lang="en-US" sz="11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800600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209544" y="4800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 </a:t>
            </a:r>
            <a:r>
              <a:rPr lang="en-US" sz="11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[570]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87568" y="48006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87568" y="4800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</a:t>
            </a:r>
            <a:r>
              <a:rPr lang="en-US" sz="11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51192" y="4800600"/>
            <a:ext cx="4617720" cy="4572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51192" y="4800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</a:t>
            </a:r>
            <a:r>
              <a:rPr lang="en-US" sz="11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FastAPI · React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Real-World Impact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766560" cy="4892040"/>
          </a:xfrm>
          <a:prstGeom prst="roundRect">
            <a:avLst>
              <a:gd name="adj" fmla="val 20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detect struggling students too late.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6126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failing marks appear, the best window to help is gone.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predicts each student's likely outcome — </a:t>
            </a:r>
            <a:r>
              <a:rPr lang="en-US" sz="145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/ Enrolled / Graduate</a:t>
            </a: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demographic, academic and enrolment data captured early in the program.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at-risk flag comes with the </a:t>
            </a:r>
            <a:r>
              <a:rPr lang="en-US" sz="145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behind it and a </a:t>
            </a:r>
            <a:r>
              <a:rPr lang="en-US" sz="145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mentoring, remedial sessions or counselling — so teams intervene while it still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43800" y="1280160"/>
            <a:ext cx="4069080" cy="1517904"/>
          </a:xfrm>
          <a:prstGeom prst="roundRect">
            <a:avLst>
              <a:gd name="adj" fmla="val 66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1812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18470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flags trigger mentoring, not judgement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2953512"/>
            <a:ext cx="4069080" cy="1517904"/>
          </a:xfrm>
          <a:prstGeom prst="roundRect">
            <a:avLst>
              <a:gd name="adj" fmla="val 66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1812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3520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preventable dropouts, funding retained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4626864"/>
            <a:ext cx="4069080" cy="1517904"/>
          </a:xfrm>
          <a:prstGeom prst="roundRect">
            <a:avLst>
              <a:gd name="adj" fmla="val 66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18120" y="4828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519379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every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532120" cy="4892040"/>
          </a:xfrm>
          <a:prstGeom prst="roundRect">
            <a:avLst>
              <a:gd name="adj" fmla="val 20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 Students' Dropout and Academic Success"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/ Kaggle · Higher-Education Predictors of Student Retention.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programmatically via ucimlrepo (id 697), with a synthetic-CSV fallback for offline runs.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6312" y="4160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23944" y="4160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23944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303520" cy="4892040"/>
          </a:xfrm>
          <a:prstGeom prst="roundRect">
            <a:avLst>
              <a:gd name="adj" fmla="val 20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2940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PREDICTIVE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Curricular-unit grades &amp; approvals (Sem 1 &amp; 2)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up-to-date · debtor status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holder · admission grade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qualification · course of study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enrolment · demographics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52144" y="2377440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52144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4,424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40864" y="214884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41448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44952" y="2377440"/>
            <a:ext cx="603504" cy="6035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44952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32888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51176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scale 36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33672" y="214884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34256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603504" cy="603504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25696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3984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Gradient-boosting classifier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14884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27064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830568" y="2377440"/>
            <a:ext cx="603504" cy="60350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30568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18504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6792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 risk band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19288" y="214884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19872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723376" y="2377440"/>
            <a:ext cx="603504" cy="6035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23376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11312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per student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12096" y="214884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12680" y="2148840"/>
            <a:ext cx="1810512" cy="21945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616184" y="2377440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616184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104120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22408" y="3566160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recommendation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 data flows through one clean pipeline — from CSV to an actionable recommendation a human educator can act on the same day.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Innovation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23560" cy="2286000"/>
          </a:xfrm>
          <a:prstGeom prst="roundRect">
            <a:avLst>
              <a:gd name="adj" fmla="val 4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17099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17282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23774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Gradient-boosting model predicts Dropout / Enrolled / Graduate with calibrated probabilities.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623560" cy="2286000"/>
          </a:xfrm>
          <a:prstGeom prst="roundRect">
            <a:avLst>
              <a:gd name="adj" fmla="val 4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47688" y="17099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4768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69480" y="17282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65976" y="23774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dropout probability is banded into High / Medium / Low for triage.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623560" cy="2286000"/>
          </a:xfrm>
          <a:prstGeom prst="roundRect">
            <a:avLst>
              <a:gd name="adj" fmla="val 4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1248" y="417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63040" y="4197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84632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surfaces the top drivers behind each individual flag.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3886200"/>
            <a:ext cx="5623560" cy="2286000"/>
          </a:xfrm>
          <a:prstGeom prst="roundRect">
            <a:avLst>
              <a:gd name="adj" fmla="val 4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47688" y="417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47688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69480" y="4197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65976" y="484632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+ drivers map to a concrete, sensible intervention — not just a score.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Demo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web app with a live animated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39312" cy="4069080"/>
          </a:xfrm>
          <a:prstGeom prst="roundRect">
            <a:avLst>
              <a:gd name="adj" fmla="val 27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273552" cy="365760"/>
          </a:xfrm>
          <a:prstGeom prst="roundRect">
            <a:avLst>
              <a:gd name="adj" fmla="val 15000"/>
            </a:avLst>
          </a:prstGeom>
          <a:solidFill>
            <a:srgbClr val="0A0E2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2084832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42416" y="208483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25296" y="208483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273552" cy="2331720"/>
          </a:xfrm>
          <a:prstGeom prst="roundRect">
            <a:avLst>
              <a:gd name="adj" fmla="val 2353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273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+ 3D student 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accuracy counter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1104" y="1783080"/>
            <a:ext cx="3639312" cy="4069080"/>
          </a:xfrm>
          <a:prstGeom prst="roundRect">
            <a:avLst>
              <a:gd name="adj" fmla="val 27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43984" y="1965960"/>
            <a:ext cx="3273552" cy="365760"/>
          </a:xfrm>
          <a:prstGeom prst="roundRect">
            <a:avLst>
              <a:gd name="adj" fmla="val 15000"/>
            </a:avLst>
          </a:prstGeom>
          <a:solidFill>
            <a:srgbClr val="0A0E2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2084832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208483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37760" y="208483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43984" y="2423160"/>
            <a:ext cx="3273552" cy="2331720"/>
          </a:xfrm>
          <a:prstGeom prst="roundRect">
            <a:avLst>
              <a:gd name="adj" fmla="val 2353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43984" y="3108960"/>
            <a:ext cx="3273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443984" y="416052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form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student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1783080"/>
            <a:ext cx="3639312" cy="4069080"/>
          </a:xfrm>
          <a:prstGeom prst="roundRect">
            <a:avLst>
              <a:gd name="adj" fmla="val 27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56448" y="1965960"/>
            <a:ext cx="3273552" cy="365760"/>
          </a:xfrm>
          <a:prstGeom prst="roundRect">
            <a:avLst>
              <a:gd name="adj" fmla="val 15000"/>
            </a:avLst>
          </a:prstGeom>
          <a:solidFill>
            <a:srgbClr val="0A0E2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84464" y="2084832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467344" y="208483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650224" y="208483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56448" y="2423160"/>
            <a:ext cx="3273552" cy="2331720"/>
          </a:xfrm>
          <a:prstGeom prst="roundRect">
            <a:avLst>
              <a:gd name="adj" fmla="val 2353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156448" y="3108960"/>
            <a:ext cx="3273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8156448" y="416052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3024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result + drivers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93024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Gauge, probabilities, top factors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placeholders with real screenshots after you run  npm run dev.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Results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97480" cy="1371600"/>
          </a:xfrm>
          <a:prstGeom prst="roundRect">
            <a:avLst>
              <a:gd name="adj" fmla="val 7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325880"/>
            <a:ext cx="2697480" cy="1371600"/>
          </a:xfrm>
          <a:prstGeom prst="roundRect">
            <a:avLst>
              <a:gd name="adj" fmla="val 7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64992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1325880"/>
            <a:ext cx="2697480" cy="1371600"/>
          </a:xfrm>
          <a:prstGeom prst="roundRect">
            <a:avLst>
              <a:gd name="adj" fmla="val 7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1344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81344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97696" y="1325880"/>
            <a:ext cx="2697480" cy="1371600"/>
          </a:xfrm>
          <a:prstGeom prst="roundRect">
            <a:avLst>
              <a:gd name="adj" fmla="val 7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97696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971800"/>
          <a:ext cx="65836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5"/>
          <p:cNvSpPr/>
          <p:nvPr/>
        </p:nvSpPr>
        <p:spPr>
          <a:xfrm>
            <a:off x="7360920" y="2971800"/>
            <a:ext cx="4251960" cy="3063240"/>
          </a:xfrm>
          <a:prstGeom prst="roundRect">
            <a:avLst>
              <a:gd name="adj" fmla="val 328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63524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35240" y="361188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2nd-semester performance is the single strongest dropout signal.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behind on tuition fees drop out far more often — a financial lever, not just academic.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 on macro-F1 and is the deployed model.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benchmark values — regenerate exact figures with backend/train.py.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 &amp; Action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39312" cy="3200400"/>
          </a:xfrm>
          <a:prstGeom prst="roundRect">
            <a:avLst>
              <a:gd name="adj" fmla="val 3143"/>
            </a:avLst>
          </a:prstGeom>
          <a:solidFill>
            <a:srgbClr val="FB7185">
              <a:alpha val="14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0.60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127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academic mentor + remedial sessions + biweekly check-in. Escalate to counselling if fees overdue.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1104" y="1463040"/>
            <a:ext cx="3639312" cy="3200400"/>
          </a:xfrm>
          <a:prstGeom prst="roundRect">
            <a:avLst>
              <a:gd name="adj" fmla="val 3143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35424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35424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– 0.60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5424" y="2788920"/>
            <a:ext cx="3127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review, peer study group, and an early nudge before mid-terms.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73568" y="1463040"/>
            <a:ext cx="3639312" cy="3200400"/>
          </a:xfrm>
          <a:prstGeom prst="roundRect">
            <a:avLst>
              <a:gd name="adj" fmla="val 3143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47888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47888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0.30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788920"/>
            <a:ext cx="3127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monitoring; automatically re-score each term as new grades arrive.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a student falls into determines the intervention — moving the system from prediction to a concrete plan of support.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Responsible Use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532120" cy="4663440"/>
          </a:xfrm>
          <a:prstGeom prst="roundRect">
            <a:avLst>
              <a:gd name="adj" fmla="val 21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one institution's historical data — may not transfer directly elsewhere.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probabilistic early signals, never certainties.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can encode demographic bias that a model may inherit.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timely, correctly-entered academic records.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2157"/>
            </a:avLst>
          </a:prstGeom>
          <a:solidFill>
            <a:srgbClr val="FB7185">
              <a:alpha val="12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RESPONSIBLE USE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a decision-support aid only.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must never be used to label, stream, or penalise a student.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must be reviewed by a human educator before any action is taken.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exists to trigger support — not judgement.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end-to-end early-warning system that helps educators reach the right student at the right time.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5212080" cy="1325880"/>
          </a:xfrm>
          <a:prstGeom prst="roundRect">
            <a:avLst>
              <a:gd name="adj" fmla="val 75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78992" y="331012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8992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3182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re-scoring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risk each term as new grades arrive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926080"/>
            <a:ext cx="5212080" cy="1325880"/>
          </a:xfrm>
          <a:prstGeom prst="roundRect">
            <a:avLst>
              <a:gd name="adj" fmla="val 75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19672" y="331012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19672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3182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SHAP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auditable explanations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212080" cy="1325880"/>
          </a:xfrm>
          <a:prstGeom prst="roundRect">
            <a:avLst>
              <a:gd name="adj" fmla="val 75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78992" y="4818888"/>
            <a:ext cx="548640" cy="548640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78992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690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093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outcomes across subgroups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12080" cy="1325880"/>
          </a:xfrm>
          <a:prstGeom prst="roundRect">
            <a:avLst>
              <a:gd name="adj" fmla="val 75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566BB">
                <a:alpha val="4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9672" y="481888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19672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690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5093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flags straight to advisors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</a:t>
            </a:r>
            <a:r>
              <a:rPr lang="en-US" sz="14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S 570 · Himshikhar 2026 AIML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Early Intervention System</a:t>
            </a: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Himshikhar 2026 · AIML · Solo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19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894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Dropout Early Intervention System</dc:title>
  <dc:subject>PptxGenJS Presentation</dc:subject>
  <dc:creator>[YOUR NAME]</dc:creator>
  <cp:lastModifiedBy>vishesh srinivas</cp:lastModifiedBy>
  <cp:revision>1</cp:revision>
  <dcterms:created xsi:type="dcterms:W3CDTF">2026-07-10T11:31:59Z</dcterms:created>
  <dcterms:modified xsi:type="dcterms:W3CDTF">2026-07-10T11:34:40Z</dcterms:modified>
</cp:coreProperties>
</file>